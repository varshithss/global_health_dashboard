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0003B8-DD77-4552-B638-1271B0CBB27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02DDD8F-9C92-4FD9-B742-3F090258600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316BACD-0708-47A0-83FA-968B71374F5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E15A943-03DE-4D62-9A55-6FA93FC0245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9E84EB3B-4989-4095-A262-1B415E4260B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7A064BB6-3136-4A37-A883-6C5F52B2024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92D4F036-9A45-40CC-AE24-AE55174DC95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E9BE7D6D-B605-4340-850F-A697C3CC6B8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4BD6B9A7-240F-42E9-A406-8C569E810EF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4F457827-B900-49ED-82BA-B9B7C907131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90131AB3-C2C6-47CD-A067-ABBC5DD0AE1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03C305C-FA7A-4122-801C-677AC2759F5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7E95604-C247-4D65-9C62-6F112333D78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y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86F9FC3-ED4E-4798-85A2-A7840350982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065AAF8-7C12-49D4-BC5B-6697F309A77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47A0063-D415-449C-B7F4-5DF441A2332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y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50523B4-7710-4F0E-A243-0F6B94C1357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9C5656D-0819-43B5-A5C6-328C777274F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y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28BA0D8-2FF4-4706-A2D2-E5B27A18862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597B620-3084-4342-834A-CF3C0512B46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78E9972-43A6-4D49-9224-290EA8DCFBD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A19AB57-28E5-4921-9FB3-82F78C5BF02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777240" y="658440"/>
            <a:ext cx="1063692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d9488"/>
                </a:solidFill>
                <a:latin typeface="Arial"/>
              </a:rPr>
              <a:t>CS661  ·  BIG DATA VISUAL ANALYTICS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777240" y="1234440"/>
            <a:ext cx="10636920" cy="159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3800" spc="-1" strike="noStrike">
                <a:solidFill>
                  <a:srgbClr val="0f172a"/>
                </a:solidFill>
                <a:latin typeface="Arial"/>
              </a:rPr>
              <a:t>Global Inequality in Diabetes</a:t>
            </a:r>
            <a:endParaRPr b="0" lang="en-IN" sz="3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3800" spc="-1" strike="noStrike">
                <a:solidFill>
                  <a:srgbClr val="0f172a"/>
                </a:solidFill>
                <a:latin typeface="Arial"/>
              </a:rPr>
              <a:t>and Hypertension Care</a:t>
            </a:r>
            <a:endParaRPr b="0" lang="en-IN" sz="3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7a8698"/>
                </a:solidFill>
                <a:latin typeface="Arial"/>
              </a:rPr>
              <a:t>A Visual Analytics Study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Rectangle 3"/>
          <p:cNvSpPr/>
          <p:nvPr/>
        </p:nvSpPr>
        <p:spPr>
          <a:xfrm>
            <a:off x="777240" y="3127320"/>
            <a:ext cx="1096920" cy="3780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777240" y="3401640"/>
            <a:ext cx="10636920" cy="33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f172a"/>
                </a:solidFill>
                <a:latin typeface="Arial"/>
              </a:rPr>
              <a:t>Group 5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777240" y="3977640"/>
            <a:ext cx="338292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4a5568"/>
                </a:solidFill>
                <a:latin typeface="Arial"/>
              </a:rPr>
              <a:t>Stuti Singh</a:t>
            </a:r>
            <a:r>
              <a:rPr b="0" lang="en-US" sz="1400" spc="-1" strike="noStrike">
                <a:solidFill>
                  <a:srgbClr val="7a8698"/>
                </a:solidFill>
                <a:latin typeface="Arial"/>
              </a:rPr>
              <a:t>  (251083)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Box 6"/>
          <p:cNvSpPr/>
          <p:nvPr/>
        </p:nvSpPr>
        <p:spPr>
          <a:xfrm>
            <a:off x="4343400" y="3977640"/>
            <a:ext cx="338292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4a5568"/>
                </a:solidFill>
                <a:latin typeface="Arial"/>
              </a:rPr>
              <a:t>Unnati Gangurde</a:t>
            </a:r>
            <a:r>
              <a:rPr b="0" lang="en-US" sz="1400" spc="-1" strike="noStrike">
                <a:solidFill>
                  <a:srgbClr val="7a8698"/>
                </a:solidFill>
                <a:latin typeface="Arial"/>
              </a:rPr>
              <a:t>  (231107)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7"/>
          <p:cNvSpPr/>
          <p:nvPr/>
        </p:nvSpPr>
        <p:spPr>
          <a:xfrm>
            <a:off x="7909560" y="3977640"/>
            <a:ext cx="338292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4a5568"/>
                </a:solidFill>
                <a:latin typeface="Arial"/>
              </a:rPr>
              <a:t>Talakola Maha Lakshmi</a:t>
            </a:r>
            <a:r>
              <a:rPr b="0" lang="en-US" sz="1400" spc="-1" strike="noStrike">
                <a:solidFill>
                  <a:srgbClr val="7a8698"/>
                </a:solidFill>
                <a:latin typeface="Arial"/>
              </a:rPr>
              <a:t>  (241082)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8"/>
          <p:cNvSpPr/>
          <p:nvPr/>
        </p:nvSpPr>
        <p:spPr>
          <a:xfrm>
            <a:off x="777240" y="4361760"/>
            <a:ext cx="338292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4a5568"/>
                </a:solidFill>
                <a:latin typeface="Arial"/>
              </a:rPr>
              <a:t>Khasha Meganakshtra</a:t>
            </a:r>
            <a:r>
              <a:rPr b="0" lang="en-US" sz="1400" spc="-1" strike="noStrike">
                <a:solidFill>
                  <a:srgbClr val="7a8698"/>
                </a:solidFill>
                <a:latin typeface="Arial"/>
              </a:rPr>
              <a:t>  (240542)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Box 9"/>
          <p:cNvSpPr/>
          <p:nvPr/>
        </p:nvSpPr>
        <p:spPr>
          <a:xfrm>
            <a:off x="4343400" y="4361760"/>
            <a:ext cx="338292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4a5568"/>
                </a:solidFill>
                <a:latin typeface="Arial"/>
              </a:rPr>
              <a:t>Pyna Hema Lakshmi SatyaSree</a:t>
            </a:r>
            <a:r>
              <a:rPr b="0" lang="en-US" sz="1400" spc="-1" strike="noStrike">
                <a:solidFill>
                  <a:srgbClr val="7a8698"/>
                </a:solidFill>
                <a:latin typeface="Arial"/>
              </a:rPr>
              <a:t>  (240819)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Box 10"/>
          <p:cNvSpPr/>
          <p:nvPr/>
        </p:nvSpPr>
        <p:spPr>
          <a:xfrm>
            <a:off x="7909560" y="4361760"/>
            <a:ext cx="338292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4a5568"/>
                </a:solidFill>
                <a:latin typeface="Arial"/>
              </a:rPr>
              <a:t>Sruja BG</a:t>
            </a:r>
            <a:r>
              <a:rPr b="0" lang="en-US" sz="1400" spc="-1" strike="noStrike">
                <a:solidFill>
                  <a:srgbClr val="7a8698"/>
                </a:solidFill>
                <a:latin typeface="Arial"/>
              </a:rPr>
              <a:t>  (240289)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Box 11"/>
          <p:cNvSpPr/>
          <p:nvPr/>
        </p:nvSpPr>
        <p:spPr>
          <a:xfrm>
            <a:off x="777240" y="4745880"/>
            <a:ext cx="338292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4a5568"/>
                </a:solidFill>
                <a:latin typeface="Arial"/>
              </a:rPr>
              <a:t>Annadevara Yashvanth Chary</a:t>
            </a:r>
            <a:r>
              <a:rPr b="0" lang="en-US" sz="1400" spc="-1" strike="noStrike">
                <a:solidFill>
                  <a:srgbClr val="7a8698"/>
                </a:solidFill>
                <a:latin typeface="Arial"/>
              </a:rPr>
              <a:t>  (240143)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12"/>
          <p:cNvSpPr/>
          <p:nvPr/>
        </p:nvSpPr>
        <p:spPr>
          <a:xfrm>
            <a:off x="4343400" y="4745880"/>
            <a:ext cx="338292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4a5568"/>
                </a:solidFill>
                <a:latin typeface="Arial"/>
              </a:rPr>
              <a:t>Mavilla Bharadwaja</a:t>
            </a:r>
            <a:r>
              <a:rPr b="0" lang="en-US" sz="1400" spc="-1" strike="noStrike">
                <a:solidFill>
                  <a:srgbClr val="7a8698"/>
                </a:solidFill>
                <a:latin typeface="Arial"/>
              </a:rPr>
              <a:t>  (251110021)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Box 13"/>
          <p:cNvSpPr/>
          <p:nvPr/>
        </p:nvSpPr>
        <p:spPr>
          <a:xfrm>
            <a:off x="7909560" y="4745880"/>
            <a:ext cx="338292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4a5568"/>
                </a:solidFill>
                <a:latin typeface="Arial"/>
              </a:rPr>
              <a:t>Singampalli Sri Varshith</a:t>
            </a:r>
            <a:r>
              <a:rPr b="0" lang="en-US" sz="1400" spc="-1" strike="noStrike">
                <a:solidFill>
                  <a:srgbClr val="7a8698"/>
                </a:solidFill>
                <a:latin typeface="Arial"/>
              </a:rPr>
              <a:t>  (251110074)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Box 14"/>
          <p:cNvSpPr/>
          <p:nvPr/>
        </p:nvSpPr>
        <p:spPr>
          <a:xfrm>
            <a:off x="777240" y="5989320"/>
            <a:ext cx="1063692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7a8698"/>
                </a:solidFill>
                <a:latin typeface="Arial"/>
              </a:rPr>
              <a:t>Indian Institute of Technology Kanpur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1"/>
          <p:cNvSpPr/>
          <p:nvPr/>
        </p:nvSpPr>
        <p:spPr>
          <a:xfrm>
            <a:off x="777240" y="475560"/>
            <a:ext cx="1063692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0f172a"/>
                </a:solidFill>
                <a:latin typeface="Arial"/>
              </a:rPr>
              <a:t>Problem Statement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Rectangle 2"/>
          <p:cNvSpPr/>
          <p:nvPr/>
        </p:nvSpPr>
        <p:spPr>
          <a:xfrm>
            <a:off x="777240" y="1078920"/>
            <a:ext cx="822600" cy="3780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3" name="TextBox 3"/>
          <p:cNvSpPr/>
          <p:nvPr/>
        </p:nvSpPr>
        <p:spPr>
          <a:xfrm>
            <a:off x="11140200" y="6291000"/>
            <a:ext cx="4568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7a8698"/>
                </a:solidFill>
                <a:latin typeface="Arial"/>
              </a:rPr>
              <a:t>2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Box 4"/>
          <p:cNvSpPr/>
          <p:nvPr/>
        </p:nvSpPr>
        <p:spPr>
          <a:xfrm>
            <a:off x="777240" y="1481400"/>
            <a:ext cx="1063692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Arial"/>
              </a:rPr>
              <a:t>Managing diabetes and hypertension well requires a health system to do two things reliably: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Rounded Rectangle 5"/>
          <p:cNvSpPr/>
          <p:nvPr/>
        </p:nvSpPr>
        <p:spPr>
          <a:xfrm>
            <a:off x="777240" y="2148840"/>
            <a:ext cx="4937400" cy="1051200"/>
          </a:xfrm>
          <a:prstGeom prst="roundRect">
            <a:avLst>
              <a:gd name="adj" fmla="val 16667"/>
            </a:avLst>
          </a:prstGeom>
          <a:solidFill>
            <a:srgbClr val="f4f6fa"/>
          </a:solidFill>
          <a:ln w="12700">
            <a:solidFill>
              <a:srgbClr val="dbe1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228600" tIns="146160" bIns="45000" anchor="ctr">
            <a:no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300" spc="-1" strike="noStrike">
                <a:solidFill>
                  <a:srgbClr val="2563eb"/>
                </a:solidFill>
                <a:latin typeface="Arial"/>
              </a:rPr>
              <a:t>REACH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put people on treatment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Rounded Rectangle 6"/>
          <p:cNvSpPr/>
          <p:nvPr/>
        </p:nvSpPr>
        <p:spPr>
          <a:xfrm>
            <a:off x="6446520" y="2148840"/>
            <a:ext cx="4937400" cy="1051200"/>
          </a:xfrm>
          <a:prstGeom prst="roundRect">
            <a:avLst>
              <a:gd name="adj" fmla="val 16667"/>
            </a:avLst>
          </a:prstGeom>
          <a:solidFill>
            <a:srgbClr val="f4f6fa"/>
          </a:solidFill>
          <a:ln w="12700">
            <a:solidFill>
              <a:srgbClr val="dbe1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228600" tIns="146160" bIns="45000" anchor="ctr">
            <a:no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300" spc="-1" strike="noStrike">
                <a:solidFill>
                  <a:srgbClr val="0d9488"/>
                </a:solidFill>
                <a:latin typeface="Arial"/>
              </a:rPr>
              <a:t>CONTROL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actually bring the condition under control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Box 7"/>
          <p:cNvSpPr/>
          <p:nvPr/>
        </p:nvSpPr>
        <p:spPr>
          <a:xfrm>
            <a:off x="777240" y="3429000"/>
            <a:ext cx="10636920" cy="103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0f172a"/>
                </a:solidFill>
                <a:latin typeface="Arial"/>
              </a:rPr>
              <a:t>These are not the same achievement.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4a5568"/>
                </a:solidFill>
                <a:latin typeface="Arial"/>
              </a:rPr>
              <a:t>A country can put a large share of its population on medication and still fail to bring most of them under control. The gap between those two numbers is one of the most policy-relevant quantities in chronic disease care — and the WHO publishes both, for the same country, year and sex.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Rectangle 8"/>
          <p:cNvSpPr/>
          <p:nvPr/>
        </p:nvSpPr>
        <p:spPr>
          <a:xfrm>
            <a:off x="777240" y="4892040"/>
            <a:ext cx="10636920" cy="12240"/>
          </a:xfrm>
          <a:prstGeom prst="rect">
            <a:avLst/>
          </a:prstGeom>
          <a:solidFill>
            <a:srgbClr val="dbe1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" name="TextBox 9"/>
          <p:cNvSpPr/>
          <p:nvPr/>
        </p:nvSpPr>
        <p:spPr>
          <a:xfrm>
            <a:off x="777240" y="5120640"/>
            <a:ext cx="10636920" cy="80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1" lang="en-US" sz="1200" spc="-1" strike="noStrike">
                <a:solidFill>
                  <a:srgbClr val="0d9488"/>
                </a:solidFill>
                <a:latin typeface="Arial"/>
              </a:rPr>
              <a:t>OUR QUESTION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i="1" lang="en-US" sz="1800" spc="-1" strike="noStrike">
                <a:solidFill>
                  <a:srgbClr val="0f172a"/>
                </a:solidFill>
                <a:latin typeface="Arial"/>
              </a:rPr>
              <a:t>Where in the world are people being treated for diabetes and hypertension but not having it effectively controlled — and how has that gap evolved and differed by sex, region, and income level?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Box 1"/>
          <p:cNvSpPr/>
          <p:nvPr/>
        </p:nvSpPr>
        <p:spPr>
          <a:xfrm>
            <a:off x="777240" y="475560"/>
            <a:ext cx="1063692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0f172a"/>
                </a:solidFill>
                <a:latin typeface="Arial"/>
              </a:rPr>
              <a:t>Dataset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Rectangle 2"/>
          <p:cNvSpPr/>
          <p:nvPr/>
        </p:nvSpPr>
        <p:spPr>
          <a:xfrm>
            <a:off x="777240" y="1078920"/>
            <a:ext cx="822600" cy="3780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" name="TextBox 3"/>
          <p:cNvSpPr/>
          <p:nvPr/>
        </p:nvSpPr>
        <p:spPr>
          <a:xfrm>
            <a:off x="11140200" y="6291000"/>
            <a:ext cx="4568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7a8698"/>
                </a:solidFill>
                <a:latin typeface="Arial"/>
              </a:rPr>
              <a:t>3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Box 4"/>
          <p:cNvSpPr/>
          <p:nvPr/>
        </p:nvSpPr>
        <p:spPr>
          <a:xfrm>
            <a:off x="777240" y="1481400"/>
            <a:ext cx="10636920" cy="55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WHO Health Inequality Data Repository</a:t>
            </a:r>
            <a:endParaRPr b="0" lang="en-IN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a8698"/>
                </a:solidFill>
                <a:latin typeface="Arial"/>
              </a:rPr>
              <a:t>Health Care System and Access module  ·  WHO Global Health Observatory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Box 5"/>
          <p:cNvSpPr/>
          <p:nvPr/>
        </p:nvSpPr>
        <p:spPr>
          <a:xfrm>
            <a:off x="777240" y="2240280"/>
            <a:ext cx="5440320" cy="193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74320" indent="-274320" defTabSz="457200">
              <a:lnSpc>
                <a:spcPct val="100000"/>
              </a:lnSpc>
              <a:spcAft>
                <a:spcPts val="901"/>
              </a:spcAft>
              <a:tabLst>
                <a:tab algn="l" pos="0"/>
              </a:tabLst>
            </a:pPr>
            <a:r>
              <a:rPr b="1" lang="en-US" sz="1600" spc="-1" strike="noStrike">
                <a:solidFill>
                  <a:srgbClr val="0d9488"/>
                </a:solidFill>
                <a:latin typeface="Arial"/>
              </a:rPr>
              <a:t>•   </a:t>
            </a:r>
            <a:r>
              <a:rPr b="1" lang="en-US" sz="1600" spc="-1" strike="noStrike">
                <a:solidFill>
                  <a:srgbClr val="0f172a"/>
                </a:solidFill>
                <a:latin typeface="Arial"/>
              </a:rPr>
              <a:t>Full repository:  </a:t>
            </a:r>
            <a:r>
              <a:rPr b="0" lang="en-US" sz="1600" spc="-1" strike="noStrike">
                <a:solidFill>
                  <a:srgbClr val="4a5568"/>
                </a:solidFill>
                <a:latin typeface="Arial"/>
              </a:rPr>
              <a:t>197 countries · 1980–2023 · 33 indicators · ~100k rows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marL="274320" indent="-274320" defTabSz="457200">
              <a:lnSpc>
                <a:spcPct val="100000"/>
              </a:lnSpc>
              <a:spcAft>
                <a:spcPts val="901"/>
              </a:spcAft>
              <a:tabLst>
                <a:tab algn="l" pos="0"/>
              </a:tabLst>
            </a:pPr>
            <a:r>
              <a:rPr b="1" lang="en-US" sz="1600" spc="-1" strike="noStrike">
                <a:solidFill>
                  <a:srgbClr val="0d9488"/>
                </a:solidFill>
                <a:latin typeface="Arial"/>
              </a:rPr>
              <a:t>•   </a:t>
            </a:r>
            <a:r>
              <a:rPr b="1" lang="en-US" sz="1600" spc="-1" strike="noStrike">
                <a:solidFill>
                  <a:srgbClr val="0f172a"/>
                </a:solidFill>
                <a:latin typeface="Arial"/>
              </a:rPr>
              <a:t>The problem:  </a:t>
            </a:r>
            <a:r>
              <a:rPr b="0" lang="en-US" sz="1600" spc="-1" strike="noStrike">
                <a:solidFill>
                  <a:srgbClr val="4a5568"/>
                </a:solidFill>
                <a:latin typeface="Arial"/>
              </a:rPr>
              <a:t>most indicators are sparse — few countries per year, or no national-level values at all. A dashboard built on them would be mostly empty.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marL="274320" indent="-274320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d9488"/>
                </a:solidFill>
                <a:latin typeface="Arial"/>
              </a:rPr>
              <a:t>•   </a:t>
            </a:r>
            <a:r>
              <a:rPr b="1" lang="en-US" sz="1600" spc="-1" strike="noStrike">
                <a:solidFill>
                  <a:srgbClr val="0f172a"/>
                </a:solidFill>
                <a:latin typeface="Arial"/>
              </a:rPr>
              <a:t>Our decision:  </a:t>
            </a:r>
            <a:r>
              <a:rPr b="0" lang="en-US" sz="1600" spc="-1" strike="noStrike">
                <a:solidFill>
                  <a:srgbClr val="4a5568"/>
                </a:solidFill>
                <a:latin typeface="Arial"/>
              </a:rPr>
              <a:t>we audited all 33 for completeness and scoped to the 6 that are verified complete.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Rounded Rectangle 6"/>
          <p:cNvSpPr/>
          <p:nvPr/>
        </p:nvSpPr>
        <p:spPr>
          <a:xfrm>
            <a:off x="6537960" y="2240280"/>
            <a:ext cx="4845960" cy="1416960"/>
          </a:xfrm>
          <a:prstGeom prst="roundRect">
            <a:avLst>
              <a:gd name="adj" fmla="val 16667"/>
            </a:avLst>
          </a:prstGeom>
          <a:solidFill>
            <a:srgbClr val="f0faf8"/>
          </a:solidFill>
          <a:ln w="12700">
            <a:solidFill>
              <a:srgbClr val="0d948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960" rIns="255960" tIns="16452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3400" spc="-1" strike="noStrike">
                <a:solidFill>
                  <a:srgbClr val="0d9488"/>
                </a:solidFill>
                <a:latin typeface="Arial"/>
              </a:rPr>
              <a:t>72,420</a:t>
            </a:r>
            <a:endParaRPr b="0" lang="en-IN" sz="3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400" spc="-1" strike="noStrike">
                <a:solidFill>
                  <a:srgbClr val="0f172a"/>
                </a:solidFill>
                <a:latin typeface="Arial"/>
              </a:rPr>
              <a:t>country–year–sex estimates · 195 countries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f172a"/>
                </a:solidFill>
                <a:latin typeface="Arial"/>
              </a:rPr>
              <a:t>zero missing values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96" name="Table 7"/>
          <p:cNvGraphicFramePr/>
          <p:nvPr/>
        </p:nvGraphicFramePr>
        <p:xfrm>
          <a:off x="777240" y="4498920"/>
          <a:ext cx="10634040" cy="1133640"/>
        </p:xfrm>
        <a:graphic>
          <a:graphicData uri="http://schemas.openxmlformats.org/drawingml/2006/table">
            <a:tbl>
              <a:tblPr/>
              <a:tblGrid>
                <a:gridCol w="6675120"/>
                <a:gridCol w="2011680"/>
                <a:gridCol w="1947600"/>
              </a:tblGrid>
              <a:tr h="283320">
                <a:tc>
                  <a:txBody>
                    <a:bodyPr l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50" spc="-1" strike="noStrike">
                          <a:solidFill>
                            <a:srgbClr val="0f172a"/>
                          </a:solidFill>
                          <a:latin typeface="Arial"/>
                        </a:rPr>
                        <a:t>Indicator</a:t>
                      </a:r>
                      <a:endParaRPr b="0" lang="en-IN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91440">
                    <a:lnL w="9360">
                      <a:noFill/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noFill/>
                      <a:prstDash val="solid"/>
                    </a:lnT>
                    <a:lnB w="9360">
                      <a:solidFill>
                        <a:srgbClr val="0d94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27360" bIns="2736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1" lang="en-US" sz="1350" spc="-1" strike="noStrike">
                          <a:solidFill>
                            <a:srgbClr val="0f172a"/>
                          </a:solidFill>
                          <a:latin typeface="Arial"/>
                        </a:rPr>
                        <a:t>Years</a:t>
                      </a:r>
                      <a:endParaRPr b="0" lang="en-IN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91440">
                    <a:lnL w="9360">
                      <a:noFill/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noFill/>
                      <a:prstDash val="solid"/>
                    </a:lnT>
                    <a:lnB w="9360">
                      <a:solidFill>
                        <a:srgbClr val="0d94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27360" bIns="2736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1" lang="en-US" sz="1350" spc="-1" strike="noStrike">
                          <a:solidFill>
                            <a:srgbClr val="0f172a"/>
                          </a:solidFill>
                          <a:latin typeface="Arial"/>
                        </a:rPr>
                        <a:t>Countries</a:t>
                      </a:r>
                      <a:endParaRPr b="0" lang="en-IN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91440">
                    <a:lnL w="9360">
                      <a:noFill/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noFill/>
                      <a:prstDash val="solid"/>
                    </a:lnT>
                    <a:lnB w="9360">
                      <a:solidFill>
                        <a:srgbClr val="0d94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3320">
                <a:tc>
                  <a:txBody>
                    <a:bodyPr l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50" spc="-1" strike="noStrike">
                          <a:solidFill>
                            <a:srgbClr val="4a5568"/>
                          </a:solidFill>
                          <a:latin typeface="Arial"/>
                        </a:rPr>
                        <a:t>Diabetes treatment coverage  (age-std. / crude)</a:t>
                      </a:r>
                      <a:endParaRPr b="0" lang="en-IN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91440">
                    <a:lnL w="9360">
                      <a:noFill/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noFill/>
                      <a:prstDash val="solid"/>
                    </a:lnT>
                    <a:lnB w="9360">
                      <a:solidFill>
                        <a:srgbClr val="db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27360" bIns="2736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350" spc="-1" strike="noStrike">
                          <a:solidFill>
                            <a:srgbClr val="4a5568"/>
                          </a:solidFill>
                          <a:latin typeface="Arial"/>
                        </a:rPr>
                        <a:t>1990–2022</a:t>
                      </a:r>
                      <a:endParaRPr b="0" lang="en-IN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91440">
                    <a:lnL w="9360">
                      <a:noFill/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noFill/>
                      <a:prstDash val="solid"/>
                    </a:lnT>
                    <a:lnB w="9360">
                      <a:solidFill>
                        <a:srgbClr val="db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27360" bIns="2736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350" spc="-1" strike="noStrike">
                          <a:solidFill>
                            <a:srgbClr val="4a5568"/>
                          </a:solidFill>
                          <a:latin typeface="Arial"/>
                        </a:rPr>
                        <a:t>195</a:t>
                      </a:r>
                      <a:endParaRPr b="0" lang="en-IN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91440">
                    <a:lnL w="9360">
                      <a:noFill/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noFill/>
                      <a:prstDash val="solid"/>
                    </a:lnT>
                    <a:lnB w="9360">
                      <a:solidFill>
                        <a:srgbClr val="db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3320">
                <a:tc>
                  <a:txBody>
                    <a:bodyPr l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50" spc="-1" strike="noStrike">
                          <a:solidFill>
                            <a:srgbClr val="4a5568"/>
                          </a:solidFill>
                          <a:latin typeface="Arial"/>
                        </a:rPr>
                        <a:t>Hypertension treatment coverage  (age-std. / crude)</a:t>
                      </a:r>
                      <a:endParaRPr b="0" lang="en-IN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91440">
                    <a:lnL w="9360">
                      <a:noFill/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noFill/>
                      <a:prstDash val="solid"/>
                    </a:lnT>
                    <a:lnB w="9360">
                      <a:solidFill>
                        <a:srgbClr val="db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27360" bIns="2736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350" spc="-1" strike="noStrike">
                          <a:solidFill>
                            <a:srgbClr val="4a5568"/>
                          </a:solidFill>
                          <a:latin typeface="Arial"/>
                        </a:rPr>
                        <a:t>1990–2019</a:t>
                      </a:r>
                      <a:endParaRPr b="0" lang="en-IN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91440">
                    <a:lnL w="9360">
                      <a:noFill/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noFill/>
                      <a:prstDash val="solid"/>
                    </a:lnT>
                    <a:lnB w="9360">
                      <a:solidFill>
                        <a:srgbClr val="db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27360" bIns="2736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350" spc="-1" strike="noStrike">
                          <a:solidFill>
                            <a:srgbClr val="4a5568"/>
                          </a:solidFill>
                          <a:latin typeface="Arial"/>
                        </a:rPr>
                        <a:t>195 / 194</a:t>
                      </a:r>
                      <a:endParaRPr b="0" lang="en-IN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91440">
                    <a:lnL w="9360">
                      <a:noFill/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noFill/>
                      <a:prstDash val="solid"/>
                    </a:lnT>
                    <a:lnB w="9360">
                      <a:solidFill>
                        <a:srgbClr val="db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3320">
                <a:tc>
                  <a:txBody>
                    <a:bodyPr l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50" spc="-1" strike="noStrike">
                          <a:solidFill>
                            <a:srgbClr val="4a5568"/>
                          </a:solidFill>
                          <a:latin typeface="Arial"/>
                        </a:rPr>
                        <a:t>Hypertension effective control  (age-std. / crude)</a:t>
                      </a:r>
                      <a:endParaRPr b="0" lang="en-IN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91440">
                    <a:lnL w="9360">
                      <a:noFill/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noFill/>
                      <a:prstDash val="solid"/>
                    </a:lnT>
                    <a:lnB w="9360">
                      <a:solidFill>
                        <a:srgbClr val="db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27360" bIns="2736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350" spc="-1" strike="noStrike">
                          <a:solidFill>
                            <a:srgbClr val="4a5568"/>
                          </a:solidFill>
                          <a:latin typeface="Arial"/>
                        </a:rPr>
                        <a:t>1990–2019</a:t>
                      </a:r>
                      <a:endParaRPr b="0" lang="en-IN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91440">
                    <a:lnL w="9360">
                      <a:noFill/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noFill/>
                      <a:prstDash val="solid"/>
                    </a:lnT>
                    <a:lnB w="9360">
                      <a:solidFill>
                        <a:srgbClr val="db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27360" bIns="2736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350" spc="-1" strike="noStrike">
                          <a:solidFill>
                            <a:srgbClr val="4a5568"/>
                          </a:solidFill>
                          <a:latin typeface="Arial"/>
                        </a:rPr>
                        <a:t>195 / 194</a:t>
                      </a:r>
                      <a:endParaRPr b="0" lang="en-IN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91440">
                    <a:lnL w="9360">
                      <a:noFill/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noFill/>
                      <a:prstDash val="solid"/>
                    </a:lnT>
                    <a:lnB w="9360">
                      <a:solidFill>
                        <a:srgbClr val="db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7" name="TextBox 8"/>
          <p:cNvSpPr/>
          <p:nvPr/>
        </p:nvSpPr>
        <p:spPr>
          <a:xfrm>
            <a:off x="777240" y="5870520"/>
            <a:ext cx="1063692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400" spc="-1" strike="noStrike">
                <a:solidFill>
                  <a:srgbClr val="0f172a"/>
                </a:solidFill>
                <a:latin typeface="Arial"/>
              </a:rPr>
              <a:t>Derived metrics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4a5568"/>
                </a:solidFill>
                <a:latin typeface="Arial"/>
              </a:rPr>
              <a:t>ΔSex = Male − Female     ·     ΔLeak = Treatment − Effective control     ·     ΔAge = Crude − Age-standardized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Box 1"/>
          <p:cNvSpPr/>
          <p:nvPr/>
        </p:nvSpPr>
        <p:spPr>
          <a:xfrm>
            <a:off x="777240" y="475560"/>
            <a:ext cx="1063692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0f172a"/>
                </a:solidFill>
                <a:latin typeface="Arial"/>
              </a:rPr>
              <a:t>Tech Stack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Rectangle 2"/>
          <p:cNvSpPr/>
          <p:nvPr/>
        </p:nvSpPr>
        <p:spPr>
          <a:xfrm>
            <a:off x="777240" y="1078920"/>
            <a:ext cx="822600" cy="3780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" name="TextBox 3"/>
          <p:cNvSpPr/>
          <p:nvPr/>
        </p:nvSpPr>
        <p:spPr>
          <a:xfrm>
            <a:off x="11140200" y="6291000"/>
            <a:ext cx="4568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7a8698"/>
                </a:solidFill>
                <a:latin typeface="Arial"/>
              </a:rPr>
              <a:t>4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Rectangle 4"/>
          <p:cNvSpPr/>
          <p:nvPr/>
        </p:nvSpPr>
        <p:spPr>
          <a:xfrm>
            <a:off x="777240" y="1536120"/>
            <a:ext cx="43920" cy="45684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" name="TextBox 5"/>
          <p:cNvSpPr/>
          <p:nvPr/>
        </p:nvSpPr>
        <p:spPr>
          <a:xfrm>
            <a:off x="978480" y="1481400"/>
            <a:ext cx="10362600" cy="78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800" spc="-1" strike="noStrike">
                <a:solidFill>
                  <a:srgbClr val="0f172a"/>
                </a:solidFill>
                <a:latin typeface="Arial"/>
              </a:rPr>
              <a:t>Dash 4.4  (Flask)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4a5568"/>
                </a:solidFill>
                <a:latin typeface="Arial"/>
              </a:rPr>
              <a:t>Web application framework. Provides the reactive callback graph that keeps all six views synchronised with one shared filter state, and serves the single-page interface.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Rectangle 6"/>
          <p:cNvSpPr/>
          <p:nvPr/>
        </p:nvSpPr>
        <p:spPr>
          <a:xfrm>
            <a:off x="777240" y="2679120"/>
            <a:ext cx="43920" cy="45684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" name="TextBox 7"/>
          <p:cNvSpPr/>
          <p:nvPr/>
        </p:nvSpPr>
        <p:spPr>
          <a:xfrm>
            <a:off x="978480" y="2624400"/>
            <a:ext cx="10362600" cy="78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800" spc="-1" strike="noStrike">
                <a:solidFill>
                  <a:srgbClr val="0f172a"/>
                </a:solidFill>
                <a:latin typeface="Arial"/>
              </a:rPr>
              <a:t>Plotly 6.9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4a5568"/>
                </a:solidFill>
                <a:latin typeface="Arial"/>
              </a:rPr>
              <a:t>All six visualizations — choropleth, dumbbell, multi-line series, cascade, grouped bars, slope chart. Hover, zoom and click events arrive already wired to Dash.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Rectangle 8"/>
          <p:cNvSpPr/>
          <p:nvPr/>
        </p:nvSpPr>
        <p:spPr>
          <a:xfrm>
            <a:off x="777240" y="3822120"/>
            <a:ext cx="43920" cy="45684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" name="TextBox 9"/>
          <p:cNvSpPr/>
          <p:nvPr/>
        </p:nvSpPr>
        <p:spPr>
          <a:xfrm>
            <a:off x="978480" y="3767400"/>
            <a:ext cx="10362600" cy="55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800" spc="-1" strike="noStrike">
                <a:solidFill>
                  <a:srgbClr val="0f172a"/>
                </a:solidFill>
                <a:latin typeface="Arial"/>
              </a:rPr>
              <a:t>pandas 3.0  ·  NumPy 2.5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4a5568"/>
                </a:solidFill>
                <a:latin typeface="Arial"/>
              </a:rPr>
              <a:t>Data aggregation, the derived metrics (ΔSex, ΔLeak, ΔAge), and all in-callback filtering over the eight prepared tables.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Rectangle 10"/>
          <p:cNvSpPr/>
          <p:nvPr/>
        </p:nvSpPr>
        <p:spPr>
          <a:xfrm>
            <a:off x="777240" y="4965120"/>
            <a:ext cx="43920" cy="45684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" name="TextBox 11"/>
          <p:cNvSpPr/>
          <p:nvPr/>
        </p:nvSpPr>
        <p:spPr>
          <a:xfrm>
            <a:off x="978480" y="4910400"/>
            <a:ext cx="10362600" cy="55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800" spc="-1" strike="noStrike">
                <a:solidFill>
                  <a:srgbClr val="0f172a"/>
                </a:solidFill>
                <a:latin typeface="Arial"/>
              </a:rPr>
              <a:t>Render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4a5568"/>
                </a:solidFill>
                <a:latin typeface="Arial"/>
              </a:rPr>
              <a:t>Deployment. The dashboard is live and publicly accessible.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Box 12"/>
          <p:cNvSpPr/>
          <p:nvPr/>
        </p:nvSpPr>
        <p:spPr>
          <a:xfrm>
            <a:off x="777240" y="6144840"/>
            <a:ext cx="1063692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200" spc="-1" strike="noStrike">
                <a:solidFill>
                  <a:srgbClr val="7a8698"/>
                </a:solidFill>
                <a:latin typeface="Arial"/>
              </a:rPr>
              <a:t>Deliberately not used:  D3.js (every chart was expressible in Plotly) and SQLite (72k rows fit in memory; repeat views are served from an LRU cache).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Box 1"/>
          <p:cNvSpPr/>
          <p:nvPr/>
        </p:nvSpPr>
        <p:spPr>
          <a:xfrm>
            <a:off x="777240" y="475560"/>
            <a:ext cx="1063692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0f172a"/>
                </a:solidFill>
                <a:latin typeface="Arial"/>
              </a:rPr>
              <a:t>Experiments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Rectangle 2"/>
          <p:cNvSpPr/>
          <p:nvPr/>
        </p:nvSpPr>
        <p:spPr>
          <a:xfrm>
            <a:off x="777240" y="1078920"/>
            <a:ext cx="822600" cy="3780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2" name="TextBox 3"/>
          <p:cNvSpPr/>
          <p:nvPr/>
        </p:nvSpPr>
        <p:spPr>
          <a:xfrm>
            <a:off x="11140200" y="6291000"/>
            <a:ext cx="4568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7a8698"/>
                </a:solidFill>
                <a:latin typeface="Arial"/>
              </a:rPr>
              <a:t>5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Box 4"/>
          <p:cNvSpPr/>
          <p:nvPr/>
        </p:nvSpPr>
        <p:spPr>
          <a:xfrm>
            <a:off x="777240" y="1298520"/>
            <a:ext cx="1063692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a8698"/>
                </a:solidFill>
                <a:latin typeface="Arial"/>
              </a:rPr>
              <a:t>Six linked visual analytics tasks — each is demonstrated live.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Rounded Rectangle 5"/>
          <p:cNvSpPr/>
          <p:nvPr/>
        </p:nvSpPr>
        <p:spPr>
          <a:xfrm>
            <a:off x="777240" y="1874520"/>
            <a:ext cx="328680" cy="32868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</a:rPr>
              <a:t>1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Box 6"/>
          <p:cNvSpPr/>
          <p:nvPr/>
        </p:nvSpPr>
        <p:spPr>
          <a:xfrm>
            <a:off x="1252800" y="1856160"/>
            <a:ext cx="384012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0f172a"/>
                </a:solidFill>
                <a:latin typeface="Arial"/>
              </a:rPr>
              <a:t>Global Coverage Map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Box 7"/>
          <p:cNvSpPr/>
          <p:nvPr/>
        </p:nvSpPr>
        <p:spPr>
          <a:xfrm>
            <a:off x="5212080" y="1856160"/>
            <a:ext cx="292572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2563eb"/>
                </a:solidFill>
                <a:latin typeface="Arial"/>
              </a:rPr>
              <a:t>Choropleth Map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Box 8"/>
          <p:cNvSpPr/>
          <p:nvPr/>
        </p:nvSpPr>
        <p:spPr>
          <a:xfrm>
            <a:off x="8229600" y="1856160"/>
            <a:ext cx="329148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7a8698"/>
                </a:solidFill>
                <a:latin typeface="Arial"/>
              </a:rPr>
              <a:t>Where is coverage highest and lowest?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Rectangle 9"/>
          <p:cNvSpPr/>
          <p:nvPr/>
        </p:nvSpPr>
        <p:spPr>
          <a:xfrm>
            <a:off x="777240" y="2441520"/>
            <a:ext cx="10636920" cy="9000"/>
          </a:xfrm>
          <a:prstGeom prst="rect">
            <a:avLst/>
          </a:prstGeom>
          <a:solidFill>
            <a:srgbClr val="dbe1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9" name="Rounded Rectangle 10"/>
          <p:cNvSpPr/>
          <p:nvPr/>
        </p:nvSpPr>
        <p:spPr>
          <a:xfrm>
            <a:off x="777240" y="2569320"/>
            <a:ext cx="328680" cy="32868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</a:rPr>
              <a:t>2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TextBox 11"/>
          <p:cNvSpPr/>
          <p:nvPr/>
        </p:nvSpPr>
        <p:spPr>
          <a:xfrm>
            <a:off x="1252800" y="2551320"/>
            <a:ext cx="384012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0f172a"/>
                </a:solidFill>
                <a:latin typeface="Arial"/>
              </a:rPr>
              <a:t>Sex Gap Analysis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Box 12"/>
          <p:cNvSpPr/>
          <p:nvPr/>
        </p:nvSpPr>
        <p:spPr>
          <a:xfrm>
            <a:off x="5212080" y="2551320"/>
            <a:ext cx="292572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2563eb"/>
                </a:solidFill>
                <a:latin typeface="Arial"/>
              </a:rPr>
              <a:t>Dumbbell Chart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Box 13"/>
          <p:cNvSpPr/>
          <p:nvPr/>
        </p:nvSpPr>
        <p:spPr>
          <a:xfrm>
            <a:off x="8229600" y="2551320"/>
            <a:ext cx="3291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7a8698"/>
                </a:solidFill>
                <a:latin typeface="Arial"/>
              </a:rPr>
              <a:t>How large is the male–female gap, and is it closing?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Rectangle 14"/>
          <p:cNvSpPr/>
          <p:nvPr/>
        </p:nvSpPr>
        <p:spPr>
          <a:xfrm>
            <a:off x="777240" y="3136320"/>
            <a:ext cx="10636920" cy="9000"/>
          </a:xfrm>
          <a:prstGeom prst="rect">
            <a:avLst/>
          </a:prstGeom>
          <a:solidFill>
            <a:srgbClr val="dbe1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4" name="Rounded Rectangle 15"/>
          <p:cNvSpPr/>
          <p:nvPr/>
        </p:nvSpPr>
        <p:spPr>
          <a:xfrm>
            <a:off x="777240" y="3264480"/>
            <a:ext cx="328680" cy="32868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</a:rPr>
              <a:t>3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Box 16"/>
          <p:cNvSpPr/>
          <p:nvPr/>
        </p:nvSpPr>
        <p:spPr>
          <a:xfrm>
            <a:off x="1252800" y="3246120"/>
            <a:ext cx="384012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0f172a"/>
                </a:solidFill>
                <a:latin typeface="Arial"/>
              </a:rPr>
              <a:t>Temporal Trend Analysis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Box 17"/>
          <p:cNvSpPr/>
          <p:nvPr/>
        </p:nvSpPr>
        <p:spPr>
          <a:xfrm>
            <a:off x="5212080" y="3246120"/>
            <a:ext cx="292572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2563eb"/>
                </a:solidFill>
                <a:latin typeface="Arial"/>
              </a:rPr>
              <a:t>Multi-line Time Series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Box 18"/>
          <p:cNvSpPr/>
          <p:nvPr/>
        </p:nvSpPr>
        <p:spPr>
          <a:xfrm>
            <a:off x="8229600" y="3246120"/>
            <a:ext cx="3291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7a8698"/>
                </a:solidFill>
                <a:latin typeface="Arial"/>
              </a:rPr>
              <a:t>Has three decades of progress been equitably shared?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Rectangle 19"/>
          <p:cNvSpPr/>
          <p:nvPr/>
        </p:nvSpPr>
        <p:spPr>
          <a:xfrm>
            <a:off x="777240" y="3831480"/>
            <a:ext cx="10636920" cy="9000"/>
          </a:xfrm>
          <a:prstGeom prst="rect">
            <a:avLst/>
          </a:prstGeom>
          <a:solidFill>
            <a:srgbClr val="dbe1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9" name="Rounded Rectangle 20"/>
          <p:cNvSpPr/>
          <p:nvPr/>
        </p:nvSpPr>
        <p:spPr>
          <a:xfrm>
            <a:off x="777240" y="3959280"/>
            <a:ext cx="328680" cy="32868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</a:rPr>
              <a:t>4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Box 21"/>
          <p:cNvSpPr/>
          <p:nvPr/>
        </p:nvSpPr>
        <p:spPr>
          <a:xfrm>
            <a:off x="1252800" y="3940920"/>
            <a:ext cx="384012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0f172a"/>
                </a:solidFill>
                <a:latin typeface="Arial"/>
              </a:rPr>
              <a:t>Treatment-to-Control Cascade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Box 22"/>
          <p:cNvSpPr/>
          <p:nvPr/>
        </p:nvSpPr>
        <p:spPr>
          <a:xfrm>
            <a:off x="5212080" y="3940920"/>
            <a:ext cx="292572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2563eb"/>
                </a:solidFill>
                <a:latin typeface="Arial"/>
              </a:rPr>
              <a:t>Horizontal Bar Cascade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Box 23"/>
          <p:cNvSpPr/>
          <p:nvPr/>
        </p:nvSpPr>
        <p:spPr>
          <a:xfrm>
            <a:off x="8229600" y="3940920"/>
            <a:ext cx="3291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7a8698"/>
                </a:solidFill>
                <a:latin typeface="Arial"/>
              </a:rPr>
              <a:t>Of the people a system treats, how many does it actually help?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Rectangle 24"/>
          <p:cNvSpPr/>
          <p:nvPr/>
        </p:nvSpPr>
        <p:spPr>
          <a:xfrm>
            <a:off x="777240" y="4526280"/>
            <a:ext cx="10636920" cy="9000"/>
          </a:xfrm>
          <a:prstGeom prst="rect">
            <a:avLst/>
          </a:prstGeom>
          <a:solidFill>
            <a:srgbClr val="dbe1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4" name="Rounded Rectangle 25"/>
          <p:cNvSpPr/>
          <p:nvPr/>
        </p:nvSpPr>
        <p:spPr>
          <a:xfrm>
            <a:off x="777240" y="4654440"/>
            <a:ext cx="328680" cy="32868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</a:rPr>
              <a:t>5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Box 26"/>
          <p:cNvSpPr/>
          <p:nvPr/>
        </p:nvSpPr>
        <p:spPr>
          <a:xfrm>
            <a:off x="1252800" y="4636080"/>
            <a:ext cx="384012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0f172a"/>
                </a:solidFill>
                <a:latin typeface="Arial"/>
              </a:rPr>
              <a:t>Regional &amp; Income-Group Comparison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Box 27"/>
          <p:cNvSpPr/>
          <p:nvPr/>
        </p:nvSpPr>
        <p:spPr>
          <a:xfrm>
            <a:off x="5212080" y="4636080"/>
            <a:ext cx="292572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2563eb"/>
                </a:solidFill>
                <a:latin typeface="Arial"/>
              </a:rPr>
              <a:t>Grouped Bar Chart + Error Bars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Box 28"/>
          <p:cNvSpPr/>
          <p:nvPr/>
        </p:nvSpPr>
        <p:spPr>
          <a:xfrm>
            <a:off x="8229600" y="4636080"/>
            <a:ext cx="3291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7a8698"/>
                </a:solidFill>
                <a:latin typeface="Arial"/>
              </a:rPr>
              <a:t>Is coverage explained by geography, or by income?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Rectangle 29"/>
          <p:cNvSpPr/>
          <p:nvPr/>
        </p:nvSpPr>
        <p:spPr>
          <a:xfrm>
            <a:off x="777240" y="5221080"/>
            <a:ext cx="10636920" cy="9000"/>
          </a:xfrm>
          <a:prstGeom prst="rect">
            <a:avLst/>
          </a:prstGeom>
          <a:solidFill>
            <a:srgbClr val="dbe1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9" name="Rounded Rectangle 30"/>
          <p:cNvSpPr/>
          <p:nvPr/>
        </p:nvSpPr>
        <p:spPr>
          <a:xfrm>
            <a:off x="777240" y="5349240"/>
            <a:ext cx="328680" cy="32868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</a:rPr>
              <a:t>6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Box 31"/>
          <p:cNvSpPr/>
          <p:nvPr/>
        </p:nvSpPr>
        <p:spPr>
          <a:xfrm>
            <a:off x="1252800" y="5330880"/>
            <a:ext cx="384012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0f172a"/>
                </a:solidFill>
                <a:latin typeface="Arial"/>
              </a:rPr>
              <a:t>Age-Standardized vs. Crude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Box 32"/>
          <p:cNvSpPr/>
          <p:nvPr/>
        </p:nvSpPr>
        <p:spPr>
          <a:xfrm>
            <a:off x="5212080" y="5330880"/>
            <a:ext cx="292572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2563eb"/>
                </a:solidFill>
                <a:latin typeface="Arial"/>
              </a:rPr>
              <a:t>Paired Slope Chart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Box 33"/>
          <p:cNvSpPr/>
          <p:nvPr/>
        </p:nvSpPr>
        <p:spPr>
          <a:xfrm>
            <a:off x="8229600" y="5330880"/>
            <a:ext cx="3291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7a8698"/>
                </a:solidFill>
                <a:latin typeface="Arial"/>
              </a:rPr>
              <a:t>How much of a country's figure is just its age structure?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Box 1"/>
          <p:cNvSpPr/>
          <p:nvPr/>
        </p:nvSpPr>
        <p:spPr>
          <a:xfrm>
            <a:off x="777240" y="475560"/>
            <a:ext cx="1063692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0f172a"/>
                </a:solidFill>
                <a:latin typeface="Arial"/>
              </a:rPr>
              <a:t>Dashboard Overview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Rectangle 2"/>
          <p:cNvSpPr/>
          <p:nvPr/>
        </p:nvSpPr>
        <p:spPr>
          <a:xfrm>
            <a:off x="777240" y="1078920"/>
            <a:ext cx="822600" cy="3780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5" name="TextBox 3"/>
          <p:cNvSpPr/>
          <p:nvPr/>
        </p:nvSpPr>
        <p:spPr>
          <a:xfrm>
            <a:off x="11140200" y="6291000"/>
            <a:ext cx="4568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7a8698"/>
                </a:solidFill>
                <a:latin typeface="Arial"/>
              </a:rPr>
              <a:t>6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Box 4"/>
          <p:cNvSpPr/>
          <p:nvPr/>
        </p:nvSpPr>
        <p:spPr>
          <a:xfrm>
            <a:off x="777240" y="1325880"/>
            <a:ext cx="67662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a8698"/>
                </a:solidFill>
                <a:latin typeface="Arial"/>
              </a:rPr>
              <a:t>A single-page linked dashboard — not six independent charts.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7" name="Picture 5" descr="ui_overview.png"/>
          <p:cNvPicPr/>
          <p:nvPr/>
        </p:nvPicPr>
        <p:blipFill>
          <a:blip r:embed="rId1"/>
          <a:stretch/>
        </p:blipFill>
        <p:spPr>
          <a:xfrm>
            <a:off x="777240" y="1783080"/>
            <a:ext cx="7086240" cy="4850640"/>
          </a:xfrm>
          <a:prstGeom prst="rect">
            <a:avLst/>
          </a:prstGeom>
          <a:ln w="0">
            <a:noFill/>
          </a:ln>
        </p:spPr>
      </p:pic>
      <p:sp>
        <p:nvSpPr>
          <p:cNvPr id="148" name="TextBox 6"/>
          <p:cNvSpPr/>
          <p:nvPr/>
        </p:nvSpPr>
        <p:spPr>
          <a:xfrm>
            <a:off x="8275320" y="1810440"/>
            <a:ext cx="3154320" cy="276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74320" indent="-274320" defTabSz="4572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en-US" sz="1350" spc="-1" strike="noStrike">
                <a:solidFill>
                  <a:srgbClr val="0d9488"/>
                </a:solidFill>
                <a:latin typeface="Arial"/>
              </a:rPr>
              <a:t>•   </a:t>
            </a:r>
            <a:r>
              <a:rPr b="1" lang="en-US" sz="1350" spc="-1" strike="noStrike">
                <a:solidFill>
                  <a:srgbClr val="0f172a"/>
                </a:solidFill>
                <a:latin typeface="Arial"/>
              </a:rPr>
              <a:t>One shared state.</a:t>
            </a:r>
            <a:r>
              <a:rPr b="0" lang="en-US" sz="1350" spc="-1" strike="noStrike">
                <a:solidFill>
                  <a:srgbClr val="4a5568"/>
                </a:solidFill>
                <a:latin typeface="Arial"/>
              </a:rPr>
              <a:t> All six views read from a single filter store.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  <a:p>
            <a:pPr marL="274320" indent="-274320" defTabSz="4572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en-US" sz="1350" spc="-1" strike="noStrike">
                <a:solidFill>
                  <a:srgbClr val="0d9488"/>
                </a:solidFill>
                <a:latin typeface="Arial"/>
              </a:rPr>
              <a:t>•   </a:t>
            </a:r>
            <a:r>
              <a:rPr b="1" lang="en-US" sz="1350" spc="-1" strike="noStrike">
                <a:solidFill>
                  <a:srgbClr val="0f172a"/>
                </a:solidFill>
                <a:latin typeface="Arial"/>
              </a:rPr>
              <a:t>Cross-filtering.</a:t>
            </a:r>
            <a:r>
              <a:rPr b="0" lang="en-US" sz="1350" spc="-1" strike="noStrike">
                <a:solidFill>
                  <a:srgbClr val="4a5568"/>
                </a:solidFill>
                <a:latin typeface="Arial"/>
              </a:rPr>
              <a:t> Click a country on the map and it is selected everywhere.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  <a:p>
            <a:pPr marL="274320" indent="-274320" defTabSz="4572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en-US" sz="1350" spc="-1" strike="noStrike">
                <a:solidFill>
                  <a:srgbClr val="0d9488"/>
                </a:solidFill>
                <a:latin typeface="Arial"/>
              </a:rPr>
              <a:t>•   </a:t>
            </a:r>
            <a:r>
              <a:rPr b="1" lang="en-US" sz="1350" spc="-1" strike="noStrike">
                <a:solidFill>
                  <a:srgbClr val="0f172a"/>
                </a:solidFill>
                <a:latin typeface="Arial"/>
              </a:rPr>
              <a:t>Scoping.</a:t>
            </a:r>
            <a:r>
              <a:rPr b="0" lang="en-US" sz="1350" spc="-1" strike="noStrike">
                <a:solidFill>
                  <a:srgbClr val="4a5568"/>
                </a:solidFill>
                <a:latin typeface="Arial"/>
              </a:rPr>
              <a:t> Region and income narrow the country pool across every view.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  <a:p>
            <a:pPr marL="274320" indent="-274320" defTabSz="4572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en-US" sz="1350" spc="-1" strike="noStrike">
                <a:solidFill>
                  <a:srgbClr val="0d9488"/>
                </a:solidFill>
                <a:latin typeface="Arial"/>
              </a:rPr>
              <a:t>•   </a:t>
            </a:r>
            <a:r>
              <a:rPr b="1" lang="en-US" sz="1350" spc="-1" strike="noStrike">
                <a:solidFill>
                  <a:srgbClr val="0f172a"/>
                </a:solidFill>
                <a:latin typeface="Arial"/>
              </a:rPr>
              <a:t>Live KPI strip.</a:t>
            </a:r>
            <a:r>
              <a:rPr b="0" lang="en-US" sz="1350" spc="-1" strike="noStrike">
                <a:solidFill>
                  <a:srgbClr val="4a5568"/>
                </a:solidFill>
                <a:latin typeface="Arial"/>
              </a:rPr>
              <a:t> Four headline numbers, recomputed from the current scope.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  <a:p>
            <a:pPr marL="274320" indent="-274320" defTabSz="4572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en-US" sz="1350" spc="-1" strike="noStrike">
                <a:solidFill>
                  <a:srgbClr val="0d9488"/>
                </a:solidFill>
                <a:latin typeface="Arial"/>
              </a:rPr>
              <a:t>•   </a:t>
            </a:r>
            <a:r>
              <a:rPr b="1" lang="en-US" sz="1350" spc="-1" strike="noStrike">
                <a:solidFill>
                  <a:srgbClr val="0f172a"/>
                </a:solidFill>
                <a:latin typeface="Arial"/>
              </a:rPr>
              <a:t>Nearest-year fallback.</a:t>
            </a:r>
            <a:r>
              <a:rPr b="0" lang="en-US" sz="1350" spc="-1" strike="noStrike">
                <a:solidFill>
                  <a:srgbClr val="4a5568"/>
                </a:solidFill>
                <a:latin typeface="Arial"/>
              </a:rPr>
              <a:t> Switching indicators never blanks a view.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Rounded Rectangle 7"/>
          <p:cNvSpPr/>
          <p:nvPr/>
        </p:nvSpPr>
        <p:spPr>
          <a:xfrm>
            <a:off x="8275320" y="5074920"/>
            <a:ext cx="3154320" cy="1005480"/>
          </a:xfrm>
          <a:prstGeom prst="roundRect">
            <a:avLst>
              <a:gd name="adj" fmla="val 16667"/>
            </a:avLst>
          </a:prstGeom>
          <a:solidFill>
            <a:srgbClr val="f0faf8"/>
          </a:solidFill>
          <a:ln w="12700">
            <a:solidFill>
              <a:srgbClr val="0d948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12816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0d9488"/>
                </a:solidFill>
                <a:latin typeface="Arial"/>
              </a:rPr>
              <a:t>LIVE DEMO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2563eb"/>
                </a:solidFill>
                <a:latin typeface="Arial"/>
              </a:rPr>
              <a:t>https://global-health-dashboard-1.onrender.com/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Box 1"/>
          <p:cNvSpPr/>
          <p:nvPr/>
        </p:nvSpPr>
        <p:spPr>
          <a:xfrm>
            <a:off x="777240" y="475560"/>
            <a:ext cx="1063692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0f172a"/>
                </a:solidFill>
                <a:latin typeface="Arial"/>
              </a:rPr>
              <a:t>Conclusion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Rectangle 2"/>
          <p:cNvSpPr/>
          <p:nvPr/>
        </p:nvSpPr>
        <p:spPr>
          <a:xfrm>
            <a:off x="777240" y="1078920"/>
            <a:ext cx="822600" cy="3780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2" name="TextBox 3"/>
          <p:cNvSpPr/>
          <p:nvPr/>
        </p:nvSpPr>
        <p:spPr>
          <a:xfrm>
            <a:off x="11140200" y="6291000"/>
            <a:ext cx="4568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7a8698"/>
                </a:solidFill>
                <a:latin typeface="Arial"/>
              </a:rPr>
              <a:t>7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Box 4"/>
          <p:cNvSpPr/>
          <p:nvPr/>
        </p:nvSpPr>
        <p:spPr>
          <a:xfrm>
            <a:off x="777240" y="1481400"/>
            <a:ext cx="10636920" cy="325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74320" indent="-274320" defTabSz="457200">
              <a:lnSpc>
                <a:spcPct val="100000"/>
              </a:lnSpc>
              <a:spcAft>
                <a:spcPts val="1301"/>
              </a:spcAft>
              <a:tabLst>
                <a:tab algn="l" pos="0"/>
              </a:tabLst>
            </a:pPr>
            <a:r>
              <a:rPr b="1" lang="en-US" sz="1550" spc="-1" strike="noStrike">
                <a:solidFill>
                  <a:srgbClr val="0d9488"/>
                </a:solidFill>
                <a:latin typeface="Arial"/>
              </a:rPr>
              <a:t>•   </a:t>
            </a:r>
            <a:r>
              <a:rPr b="1" lang="en-US" sz="1550" spc="-1" strike="noStrike">
                <a:solidFill>
                  <a:srgbClr val="0f172a"/>
                </a:solidFill>
                <a:latin typeface="Arial"/>
              </a:rPr>
              <a:t>Care is stratified, not merely uneven.</a:t>
            </a:r>
            <a:r>
              <a:rPr b="0" lang="en-US" sz="1550" spc="-1" strike="noStrike">
                <a:solidFill>
                  <a:srgbClr val="4a5568"/>
                </a:solidFill>
                <a:latin typeface="Arial"/>
              </a:rPr>
              <a:t> Diabetes treatment coverage runs from 8.5% in Burkina Faso to 86.0% in Belgium — a 10× ratio.</a:t>
            </a:r>
            <a:endParaRPr b="0" lang="en-IN" sz="1550" spc="-1" strike="noStrike">
              <a:solidFill>
                <a:srgbClr val="000000"/>
              </a:solidFill>
              <a:latin typeface="Arial"/>
            </a:endParaRPr>
          </a:p>
          <a:p>
            <a:pPr marL="274320" indent="-274320" defTabSz="457200">
              <a:lnSpc>
                <a:spcPct val="100000"/>
              </a:lnSpc>
              <a:spcAft>
                <a:spcPts val="1301"/>
              </a:spcAft>
              <a:tabLst>
                <a:tab algn="l" pos="0"/>
              </a:tabLst>
            </a:pPr>
            <a:r>
              <a:rPr b="1" lang="en-US" sz="1550" spc="-1" strike="noStrike">
                <a:solidFill>
                  <a:srgbClr val="0d9488"/>
                </a:solidFill>
                <a:latin typeface="Arial"/>
              </a:rPr>
              <a:t>•   </a:t>
            </a:r>
            <a:r>
              <a:rPr b="1" lang="en-US" sz="1550" spc="-1" strike="noStrike">
                <a:solidFill>
                  <a:srgbClr val="0f172a"/>
                </a:solidFill>
                <a:latin typeface="Arial"/>
              </a:rPr>
              <a:t>Thirty years of progress widened every absolute gap.</a:t>
            </a:r>
            <a:r>
              <a:rPr b="0" lang="en-US" sz="1550" spc="-1" strike="noStrike">
                <a:solidFill>
                  <a:srgbClr val="4a5568"/>
                </a:solidFill>
                <a:latin typeface="Arial"/>
              </a:rPr>
              <a:t> The high-to-low income gap in hypertension control grew from 4.4 pp (1990) to 18.5 pp (2019) — even though low-income countries improved by over 400% in relative terms. Growth converged; levels diverged.</a:t>
            </a:r>
            <a:endParaRPr b="0" lang="en-IN" sz="1550" spc="-1" strike="noStrike">
              <a:solidFill>
                <a:srgbClr val="000000"/>
              </a:solidFill>
              <a:latin typeface="Arial"/>
            </a:endParaRPr>
          </a:p>
          <a:p>
            <a:pPr marL="274320" indent="-274320" defTabSz="457200">
              <a:lnSpc>
                <a:spcPct val="100000"/>
              </a:lnSpc>
              <a:spcAft>
                <a:spcPts val="1301"/>
              </a:spcAft>
              <a:tabLst>
                <a:tab algn="l" pos="0"/>
              </a:tabLst>
            </a:pPr>
            <a:r>
              <a:rPr b="1" lang="en-US" sz="1550" spc="-1" strike="noStrike">
                <a:solidFill>
                  <a:srgbClr val="0d9488"/>
                </a:solidFill>
                <a:latin typeface="Arial"/>
              </a:rPr>
              <a:t>•   </a:t>
            </a:r>
            <a:r>
              <a:rPr b="1" lang="en-US" sz="1550" spc="-1" strike="noStrike">
                <a:solidFill>
                  <a:srgbClr val="0f172a"/>
                </a:solidFill>
                <a:latin typeface="Arial"/>
              </a:rPr>
              <a:t>Treatment is the easy half.</a:t>
            </a:r>
            <a:r>
              <a:rPr b="0" lang="en-US" sz="1550" spc="-1" strike="noStrike">
                <a:solidFill>
                  <a:srgbClr val="4a5568"/>
                </a:solidFill>
                <a:latin typeface="Arial"/>
              </a:rPr>
              <a:t> Fewer than half (47.5%) of treated hypertensive patients reach effective control. The worst conversion belongs to upper-middle-income countries (43.7%) — not the poorest ones.</a:t>
            </a:r>
            <a:endParaRPr b="0" lang="en-IN" sz="1550" spc="-1" strike="noStrike">
              <a:solidFill>
                <a:srgbClr val="000000"/>
              </a:solidFill>
              <a:latin typeface="Arial"/>
            </a:endParaRPr>
          </a:p>
          <a:p>
            <a:pPr marL="274320" indent="-274320" defTabSz="457200">
              <a:lnSpc>
                <a:spcPct val="100000"/>
              </a:lnSpc>
              <a:spcAft>
                <a:spcPts val="1301"/>
              </a:spcAft>
              <a:tabLst>
                <a:tab algn="l" pos="0"/>
              </a:tabLst>
            </a:pPr>
            <a:r>
              <a:rPr b="1" lang="en-US" sz="1550" spc="-1" strike="noStrike">
                <a:solidFill>
                  <a:srgbClr val="0d9488"/>
                </a:solidFill>
                <a:latin typeface="Arial"/>
              </a:rPr>
              <a:t>•   </a:t>
            </a:r>
            <a:r>
              <a:rPr b="1" lang="en-US" sz="1550" spc="-1" strike="noStrike">
                <a:solidFill>
                  <a:srgbClr val="0f172a"/>
                </a:solidFill>
                <a:latin typeface="Arial"/>
              </a:rPr>
              <a:t>Men are systematically under-reached.</a:t>
            </a:r>
            <a:r>
              <a:rPr b="0" lang="en-US" sz="1550" spc="-1" strike="noStrike">
                <a:solidFill>
                  <a:srgbClr val="4a5568"/>
                </a:solidFill>
                <a:latin typeface="Arial"/>
              </a:rPr>
              <a:t> Women have higher hypertension treatment coverage in 190 of 195 countries, and the gap has widened since 1990 — a diagnostic, not therapeutic, failure.</a:t>
            </a:r>
            <a:endParaRPr b="0" lang="en-IN" sz="1550" spc="-1" strike="noStrike">
              <a:solidFill>
                <a:srgbClr val="000000"/>
              </a:solidFill>
              <a:latin typeface="Arial"/>
            </a:endParaRPr>
          </a:p>
          <a:p>
            <a:pPr marL="274320" indent="-274320" defTabSz="457200">
              <a:lnSpc>
                <a:spcPct val="100000"/>
              </a:lnSpc>
              <a:spcAft>
                <a:spcPts val="1301"/>
              </a:spcAft>
              <a:tabLst>
                <a:tab algn="l" pos="0"/>
              </a:tabLst>
            </a:pPr>
            <a:r>
              <a:rPr b="1" lang="en-US" sz="1550" spc="-1" strike="noStrike">
                <a:solidFill>
                  <a:srgbClr val="0d9488"/>
                </a:solidFill>
                <a:latin typeface="Arial"/>
              </a:rPr>
              <a:t>•   </a:t>
            </a:r>
            <a:r>
              <a:rPr b="1" lang="en-US" sz="1550" spc="-1" strike="noStrike">
                <a:solidFill>
                  <a:srgbClr val="0f172a"/>
                </a:solidFill>
                <a:latin typeface="Arial"/>
              </a:rPr>
              <a:t>Measurement is a policy choice.</a:t>
            </a:r>
            <a:r>
              <a:rPr b="0" lang="en-US" sz="1550" spc="-1" strike="noStrike">
                <a:solidFill>
                  <a:srgbClr val="4a5568"/>
                </a:solidFill>
                <a:latin typeface="Arial"/>
              </a:rPr>
              <a:t> Choosing crude over age-standardized rates moves Qatar 54 places in a global ranking, purely because of population age structure.</a:t>
            </a:r>
            <a:endParaRPr b="0" lang="en-IN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Rectangle 5"/>
          <p:cNvSpPr/>
          <p:nvPr/>
        </p:nvSpPr>
        <p:spPr>
          <a:xfrm>
            <a:off x="777240" y="5806440"/>
            <a:ext cx="10636920" cy="12240"/>
          </a:xfrm>
          <a:prstGeom prst="rect">
            <a:avLst/>
          </a:prstGeom>
          <a:solidFill>
            <a:srgbClr val="dbe1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5" name="TextBox 6"/>
          <p:cNvSpPr/>
          <p:nvPr/>
        </p:nvSpPr>
        <p:spPr>
          <a:xfrm>
            <a:off x="777240" y="5989320"/>
            <a:ext cx="9905400" cy="42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7a8698"/>
                </a:solidFill>
                <a:latin typeface="Arial"/>
              </a:rPr>
              <a:t>Several of these are visible only because the views are linked and the metrics are paired — a chart-by-chart dashboard would not surface them.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Box 1"/>
          <p:cNvSpPr/>
          <p:nvPr/>
        </p:nvSpPr>
        <p:spPr>
          <a:xfrm>
            <a:off x="777240" y="475560"/>
            <a:ext cx="1063692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0f172a"/>
                </a:solidFill>
                <a:latin typeface="Arial"/>
              </a:rPr>
              <a:t>Contributions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Rectangle 2"/>
          <p:cNvSpPr/>
          <p:nvPr/>
        </p:nvSpPr>
        <p:spPr>
          <a:xfrm>
            <a:off x="777240" y="1078920"/>
            <a:ext cx="822600" cy="3780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8" name="TextBox 3"/>
          <p:cNvSpPr/>
          <p:nvPr/>
        </p:nvSpPr>
        <p:spPr>
          <a:xfrm>
            <a:off x="11140200" y="6291000"/>
            <a:ext cx="4568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7a8698"/>
                </a:solidFill>
                <a:latin typeface="Arial"/>
              </a:rPr>
              <a:t>8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59" name="Table 4"/>
          <p:cNvGraphicFramePr/>
          <p:nvPr/>
        </p:nvGraphicFramePr>
        <p:xfrm>
          <a:off x="777240" y="1481400"/>
          <a:ext cx="10634040" cy="3547440"/>
        </p:xfrm>
        <a:graphic>
          <a:graphicData uri="http://schemas.openxmlformats.org/drawingml/2006/table">
            <a:tbl>
              <a:tblPr/>
              <a:tblGrid>
                <a:gridCol w="4846320"/>
                <a:gridCol w="4114800"/>
                <a:gridCol w="1673280"/>
              </a:tblGrid>
              <a:tr h="4021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0f172a"/>
                          </a:solidFill>
                          <a:latin typeface="Arial"/>
                        </a:rPr>
                        <a:t>Component</a:t>
                      </a:r>
                      <a:endParaRPr b="0" lang="en-IN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noFill/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noFill/>
                      <a:prstDash val="solid"/>
                    </a:lnT>
                    <a:lnB w="9360">
                      <a:solidFill>
                        <a:srgbClr val="0d94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0f172a"/>
                          </a:solidFill>
                          <a:latin typeface="Arial"/>
                        </a:rPr>
                        <a:t>Member</a:t>
                      </a:r>
                      <a:endParaRPr b="0" lang="en-IN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noFill/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noFill/>
                      <a:prstDash val="solid"/>
                    </a:lnT>
                    <a:lnB w="9360">
                      <a:solidFill>
                        <a:srgbClr val="0d94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0f172a"/>
                          </a:solidFill>
                          <a:latin typeface="Arial"/>
                        </a:rPr>
                        <a:t>Roll No.</a:t>
                      </a:r>
                      <a:endParaRPr b="0" lang="en-IN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noFill/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noFill/>
                      <a:prstDash val="solid"/>
                    </a:lnT>
                    <a:lnB w="9360">
                      <a:solidFill>
                        <a:srgbClr val="0d94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4a5568"/>
                          </a:solidFill>
                          <a:latin typeface="Arial"/>
                        </a:rPr>
                        <a:t>Data Preprocessing</a:t>
                      </a:r>
                      <a:endParaRPr b="0" lang="en-IN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noFill/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noFill/>
                      <a:prstDash val="solid"/>
                    </a:lnT>
                    <a:lnB w="9360">
                      <a:solidFill>
                        <a:srgbClr val="db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4a5568"/>
                          </a:solidFill>
                          <a:latin typeface="Arial"/>
                        </a:rPr>
                        <a:t>Stuti Singh</a:t>
                      </a:r>
                      <a:endParaRPr b="0" lang="en-IN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noFill/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noFill/>
                      <a:prstDash val="solid"/>
                    </a:lnT>
                    <a:lnB w="9360">
                      <a:solidFill>
                        <a:srgbClr val="db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4a5568"/>
                          </a:solidFill>
                          <a:latin typeface="Arial"/>
                        </a:rPr>
                        <a:t>251083</a:t>
                      </a:r>
                      <a:endParaRPr b="0" lang="en-IN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noFill/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noFill/>
                      <a:prstDash val="solid"/>
                    </a:lnT>
                    <a:lnB w="9360">
                      <a:solidFill>
                        <a:srgbClr val="db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4a5568"/>
                          </a:solidFill>
                          <a:latin typeface="Arial"/>
                        </a:rPr>
                        <a:t>Task 1: Global Coverage Map</a:t>
                      </a:r>
                      <a:endParaRPr b="0" lang="en-IN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noFill/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noFill/>
                      <a:prstDash val="solid"/>
                    </a:lnT>
                    <a:lnB w="9360">
                      <a:solidFill>
                        <a:srgbClr val="db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4a5568"/>
                          </a:solidFill>
                          <a:latin typeface="Arial"/>
                        </a:rPr>
                        <a:t>Annadevara Yashvanth Chary</a:t>
                      </a:r>
                      <a:endParaRPr b="0" lang="en-IN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noFill/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noFill/>
                      <a:prstDash val="solid"/>
                    </a:lnT>
                    <a:lnB w="9360">
                      <a:solidFill>
                        <a:srgbClr val="db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4a5568"/>
                          </a:solidFill>
                          <a:latin typeface="Arial"/>
                        </a:rPr>
                        <a:t>240143</a:t>
                      </a:r>
                      <a:endParaRPr b="0" lang="en-IN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noFill/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noFill/>
                      <a:prstDash val="solid"/>
                    </a:lnT>
                    <a:lnB w="9360">
                      <a:solidFill>
                        <a:srgbClr val="db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4a5568"/>
                          </a:solidFill>
                          <a:latin typeface="Arial"/>
                        </a:rPr>
                        <a:t>Task 2: Sex Gap Analysis</a:t>
                      </a:r>
                      <a:endParaRPr b="0" lang="en-IN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noFill/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noFill/>
                      <a:prstDash val="solid"/>
                    </a:lnT>
                    <a:lnB w="9360">
                      <a:solidFill>
                        <a:srgbClr val="db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4a5568"/>
                          </a:solidFill>
                          <a:latin typeface="Arial"/>
                        </a:rPr>
                        <a:t>Singampalli Sri Varshith</a:t>
                      </a:r>
                      <a:endParaRPr b="0" lang="en-IN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noFill/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noFill/>
                      <a:prstDash val="solid"/>
                    </a:lnT>
                    <a:lnB w="9360">
                      <a:solidFill>
                        <a:srgbClr val="db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4a5568"/>
                          </a:solidFill>
                          <a:latin typeface="Arial"/>
                        </a:rPr>
                        <a:t>251110074</a:t>
                      </a:r>
                      <a:endParaRPr b="0" lang="en-IN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noFill/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noFill/>
                      <a:prstDash val="solid"/>
                    </a:lnT>
                    <a:lnB w="9360">
                      <a:solidFill>
                        <a:srgbClr val="db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4a5568"/>
                          </a:solidFill>
                          <a:latin typeface="Arial"/>
                        </a:rPr>
                        <a:t>Task 3: Temporal Trend Analysis</a:t>
                      </a:r>
                      <a:endParaRPr b="0" lang="en-IN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noFill/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noFill/>
                      <a:prstDash val="solid"/>
                    </a:lnT>
                    <a:lnB w="9360">
                      <a:solidFill>
                        <a:srgbClr val="db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4a5568"/>
                          </a:solidFill>
                          <a:latin typeface="Arial"/>
                        </a:rPr>
                        <a:t>Mavilla Bharadwaja</a:t>
                      </a:r>
                      <a:endParaRPr b="0" lang="en-IN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noFill/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noFill/>
                      <a:prstDash val="solid"/>
                    </a:lnT>
                    <a:lnB w="9360">
                      <a:solidFill>
                        <a:srgbClr val="db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4a5568"/>
                          </a:solidFill>
                          <a:latin typeface="Arial"/>
                        </a:rPr>
                        <a:t>251110021</a:t>
                      </a:r>
                      <a:endParaRPr b="0" lang="en-IN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noFill/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noFill/>
                      <a:prstDash val="solid"/>
                    </a:lnT>
                    <a:lnB w="9360">
                      <a:solidFill>
                        <a:srgbClr val="db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64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4a5568"/>
                          </a:solidFill>
                          <a:latin typeface="Arial"/>
                        </a:rPr>
                        <a:t>Task 4: Treatment-to-Control Cascade</a:t>
                      </a:r>
                      <a:endParaRPr b="0" lang="en-IN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noFill/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noFill/>
                      <a:prstDash val="solid"/>
                    </a:lnT>
                    <a:lnB w="9360">
                      <a:solidFill>
                        <a:srgbClr val="db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4a5568"/>
                          </a:solidFill>
                          <a:latin typeface="Arial"/>
                        </a:rPr>
                        <a:t>Talakola Maha Lakshmi</a:t>
                      </a:r>
                      <a:endParaRPr b="0" lang="en-IN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4a5568"/>
                          </a:solidFill>
                          <a:latin typeface="Arial"/>
                        </a:rPr>
                        <a:t>Khasha Meganakshtra</a:t>
                      </a:r>
                      <a:endParaRPr b="0" lang="en-IN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noFill/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noFill/>
                      <a:prstDash val="solid"/>
                    </a:lnT>
                    <a:lnB w="9360">
                      <a:solidFill>
                        <a:srgbClr val="db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4a5568"/>
                          </a:solidFill>
                          <a:latin typeface="Arial"/>
                        </a:rPr>
                        <a:t>241082</a:t>
                      </a:r>
                      <a:endParaRPr b="0" lang="en-IN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4a5568"/>
                          </a:solidFill>
                          <a:latin typeface="Arial"/>
                        </a:rPr>
                        <a:t>240542</a:t>
                      </a:r>
                      <a:endParaRPr b="0" lang="en-IN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noFill/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noFill/>
                      <a:prstDash val="solid"/>
                    </a:lnT>
                    <a:lnB w="9360">
                      <a:solidFill>
                        <a:srgbClr val="db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64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4a5568"/>
                          </a:solidFill>
                          <a:latin typeface="Arial"/>
                        </a:rPr>
                        <a:t>Task 5: Regional &amp; Income-Group Comparison</a:t>
                      </a:r>
                      <a:endParaRPr b="0" lang="en-IN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noFill/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noFill/>
                      <a:prstDash val="solid"/>
                    </a:lnT>
                    <a:lnB w="9360">
                      <a:solidFill>
                        <a:srgbClr val="db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4a5568"/>
                          </a:solidFill>
                          <a:latin typeface="Arial"/>
                        </a:rPr>
                        <a:t>Pyna Hema Lakshmi SatyaSree</a:t>
                      </a:r>
                      <a:endParaRPr b="0" lang="en-IN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4a5568"/>
                          </a:solidFill>
                          <a:latin typeface="Arial"/>
                        </a:rPr>
                        <a:t>Sruja BG</a:t>
                      </a:r>
                      <a:endParaRPr b="0" lang="en-IN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noFill/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noFill/>
                      <a:prstDash val="solid"/>
                    </a:lnT>
                    <a:lnB w="9360">
                      <a:solidFill>
                        <a:srgbClr val="db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4a5568"/>
                          </a:solidFill>
                          <a:latin typeface="Arial"/>
                        </a:rPr>
                        <a:t>240819</a:t>
                      </a:r>
                      <a:endParaRPr b="0" lang="en-IN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4a5568"/>
                          </a:solidFill>
                          <a:latin typeface="Arial"/>
                        </a:rPr>
                        <a:t>240289</a:t>
                      </a:r>
                      <a:endParaRPr b="0" lang="en-IN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noFill/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noFill/>
                      <a:prstDash val="solid"/>
                    </a:lnT>
                    <a:lnB w="9360">
                      <a:solidFill>
                        <a:srgbClr val="db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4a5568"/>
                          </a:solidFill>
                          <a:latin typeface="Arial"/>
                        </a:rPr>
                        <a:t>Task 6: Age-Standardized vs. Crude</a:t>
                      </a:r>
                      <a:endParaRPr b="0" lang="en-IN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noFill/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noFill/>
                      <a:prstDash val="solid"/>
                    </a:lnT>
                    <a:lnB w="9360">
                      <a:solidFill>
                        <a:srgbClr val="db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4a5568"/>
                          </a:solidFill>
                          <a:latin typeface="Arial"/>
                        </a:rPr>
                        <a:t>Unnati Gangurde</a:t>
                      </a:r>
                      <a:endParaRPr b="0" lang="en-IN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noFill/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noFill/>
                      <a:prstDash val="solid"/>
                    </a:lnT>
                    <a:lnB w="9360">
                      <a:solidFill>
                        <a:srgbClr val="db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4a5568"/>
                          </a:solidFill>
                          <a:latin typeface="Arial"/>
                        </a:rPr>
                        <a:t>231107</a:t>
                      </a:r>
                      <a:endParaRPr b="0" lang="en-IN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noFill/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noFill/>
                      <a:prstDash val="solid"/>
                    </a:lnT>
                    <a:lnB w="9360">
                      <a:solidFill>
                        <a:srgbClr val="db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ectangle 1"/>
          <p:cNvSpPr/>
          <p:nvPr/>
        </p:nvSpPr>
        <p:spPr>
          <a:xfrm>
            <a:off x="777240" y="2331720"/>
            <a:ext cx="1096920" cy="3780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1" name="TextBox 2"/>
          <p:cNvSpPr/>
          <p:nvPr/>
        </p:nvSpPr>
        <p:spPr>
          <a:xfrm>
            <a:off x="777240" y="2697480"/>
            <a:ext cx="10636920" cy="10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1" lang="en-US" sz="4600" spc="-1" strike="noStrike">
                <a:solidFill>
                  <a:srgbClr val="0f172a"/>
                </a:solidFill>
                <a:latin typeface="Arial"/>
              </a:rPr>
              <a:t>Thank You</a:t>
            </a:r>
            <a:endParaRPr b="0" lang="en-IN" sz="4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7a8698"/>
                </a:solidFill>
                <a:latin typeface="Arial"/>
              </a:rPr>
              <a:t>Group 5  ·  CS661 Big Data Visual Analytics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Box 3"/>
          <p:cNvSpPr/>
          <p:nvPr/>
        </p:nvSpPr>
        <p:spPr>
          <a:xfrm>
            <a:off x="777240" y="4343400"/>
            <a:ext cx="10636920" cy="5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1400" spc="-1" strike="noStrike">
                <a:solidFill>
                  <a:srgbClr val="0f172a"/>
                </a:solidFill>
                <a:latin typeface="Arial"/>
              </a:rPr>
              <a:t>Live dashboard      </a:t>
            </a:r>
            <a:r>
              <a:rPr b="0" lang="en-US" sz="1400" spc="-1" strike="noStrike">
                <a:solidFill>
                  <a:srgbClr val="2563eb"/>
                </a:solidFill>
                <a:latin typeface="Arial"/>
              </a:rPr>
              <a:t>https://global-health-dashboard-1.onrender.com/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f172a"/>
                </a:solidFill>
                <a:latin typeface="Arial"/>
              </a:rPr>
              <a:t>GitHub repository   </a:t>
            </a:r>
            <a:r>
              <a:rPr b="0" lang="en-US" sz="1400" spc="-1" strike="noStrike">
                <a:solidFill>
                  <a:srgbClr val="2563eb"/>
                </a:solidFill>
                <a:latin typeface="Arial"/>
              </a:rPr>
              <a:t>https://github.com/VarshithSS/global_health_dashboard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2026-07-13T19:27:48Z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